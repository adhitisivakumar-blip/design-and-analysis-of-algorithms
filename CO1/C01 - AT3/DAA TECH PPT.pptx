
<file path=[Content_Types].xml><?xml version="1.0" encoding="utf-8"?>
<Types xmlns="http://schemas.openxmlformats.org/package/2006/content-types">
  <Default Extension="bin" ContentType="image/unknown"/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0" r:id="rId1"/>
  </p:sldMasterIdLst>
  <p:notesMasterIdLst>
    <p:notesMasterId r:id="rId16"/>
  </p:notesMasterIdLst>
  <p:sldIdLst>
    <p:sldId id="322" r:id="rId2"/>
    <p:sldId id="256" r:id="rId3"/>
    <p:sldId id="311" r:id="rId4"/>
    <p:sldId id="312" r:id="rId5"/>
    <p:sldId id="313" r:id="rId6"/>
    <p:sldId id="314" r:id="rId7"/>
    <p:sldId id="315" r:id="rId8"/>
    <p:sldId id="318" r:id="rId9"/>
    <p:sldId id="317" r:id="rId10"/>
    <p:sldId id="316" r:id="rId11"/>
    <p:sldId id="320" r:id="rId12"/>
    <p:sldId id="319" r:id="rId13"/>
    <p:sldId id="321" r:id="rId14"/>
    <p:sldId id="271" r:id="rId15"/>
  </p:sldIdLst>
  <p:sldSz cx="9144000" cy="5143500" type="screen16x9"/>
  <p:notesSz cx="6858000" cy="9144000"/>
  <p:embeddedFontLst>
    <p:embeddedFont>
      <p:font typeface="Albert Sans" panose="020B0604020202020204" charset="0"/>
      <p:regular r:id="rId17"/>
      <p:bold r:id="rId18"/>
      <p:italic r:id="rId19"/>
      <p:boldItalic r:id="rId20"/>
    </p:embeddedFont>
    <p:embeddedFont>
      <p:font typeface="Alexandria Medium" panose="020B0604020202020204" charset="-78"/>
      <p:regular r:id="rId21"/>
      <p:bold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C03B3F1B-671D-4692-8B17-FEF0D83E2B27}">
  <a:tblStyle styleId="{C03B3F1B-671D-4692-8B17-FEF0D83E2B2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52F9CB20-50F7-4391-93E4-B4078CCE6CF4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9" d="100"/>
          <a:sy n="99" d="100"/>
        </p:scale>
        <p:origin x="34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dhiti.sivakumar@gmail.com" userId="52d1b91b2091590b" providerId="LiveId" clId="{953BEA93-BFF5-49AD-8550-68FF4D6F6B69}"/>
    <pc:docChg chg="custSel addSld modSld sldOrd">
      <pc:chgData name="adhiti.sivakumar@gmail.com" userId="52d1b91b2091590b" providerId="LiveId" clId="{953BEA93-BFF5-49AD-8550-68FF4D6F6B69}" dt="2026-07-22T04:12:31.500" v="23" actId="1076"/>
      <pc:docMkLst>
        <pc:docMk/>
      </pc:docMkLst>
      <pc:sldChg chg="addSp delSp modSp add mod ord">
        <pc:chgData name="adhiti.sivakumar@gmail.com" userId="52d1b91b2091590b" providerId="LiveId" clId="{953BEA93-BFF5-49AD-8550-68FF4D6F6B69}" dt="2026-07-22T04:12:31.500" v="23" actId="1076"/>
        <pc:sldMkLst>
          <pc:docMk/>
          <pc:sldMk cId="4183250650" sldId="322"/>
        </pc:sldMkLst>
        <pc:spChg chg="del">
          <ac:chgData name="adhiti.sivakumar@gmail.com" userId="52d1b91b2091590b" providerId="LiveId" clId="{953BEA93-BFF5-49AD-8550-68FF4D6F6B69}" dt="2026-07-22T04:09:58.852" v="3" actId="478"/>
          <ac:spMkLst>
            <pc:docMk/>
            <pc:sldMk cId="4183250650" sldId="322"/>
            <ac:spMk id="2" creationId="{C8FEFAE9-0D1B-1F3E-4FD6-4A51E23E28F4}"/>
          </ac:spMkLst>
        </pc:spChg>
        <pc:spChg chg="add del mod">
          <ac:chgData name="adhiti.sivakumar@gmail.com" userId="52d1b91b2091590b" providerId="LiveId" clId="{953BEA93-BFF5-49AD-8550-68FF4D6F6B69}" dt="2026-07-22T04:10:01.252" v="4" actId="478"/>
          <ac:spMkLst>
            <pc:docMk/>
            <pc:sldMk cId="4183250650" sldId="322"/>
            <ac:spMk id="3" creationId="{8C74E1F5-89F9-A163-D35A-E68E64A1916C}"/>
          </ac:spMkLst>
        </pc:spChg>
        <pc:spChg chg="add del mod">
          <ac:chgData name="adhiti.sivakumar@gmail.com" userId="52d1b91b2091590b" providerId="LiveId" clId="{953BEA93-BFF5-49AD-8550-68FF4D6F6B69}" dt="2026-07-22T04:10:06.351" v="6" actId="478"/>
          <ac:spMkLst>
            <pc:docMk/>
            <pc:sldMk cId="4183250650" sldId="322"/>
            <ac:spMk id="5" creationId="{5E3263F0-41B5-D6F0-E054-454861C186A3}"/>
          </ac:spMkLst>
        </pc:spChg>
        <pc:spChg chg="add">
          <ac:chgData name="adhiti.sivakumar@gmail.com" userId="52d1b91b2091590b" providerId="LiveId" clId="{953BEA93-BFF5-49AD-8550-68FF4D6F6B69}" dt="2026-07-22T04:11:02.656" v="7"/>
          <ac:spMkLst>
            <pc:docMk/>
            <pc:sldMk cId="4183250650" sldId="322"/>
            <ac:spMk id="6" creationId="{3AA85526-1139-69FC-D3E7-75D240C6B662}"/>
          </ac:spMkLst>
        </pc:spChg>
        <pc:spChg chg="del">
          <ac:chgData name="adhiti.sivakumar@gmail.com" userId="52d1b91b2091590b" providerId="LiveId" clId="{953BEA93-BFF5-49AD-8550-68FF4D6F6B69}" dt="2026-07-22T04:10:04.433" v="5" actId="478"/>
          <ac:spMkLst>
            <pc:docMk/>
            <pc:sldMk cId="4183250650" sldId="322"/>
            <ac:spMk id="250" creationId="{83C7CD47-FE7A-51FE-1E9C-EF46E087FAC7}"/>
          </ac:spMkLst>
        </pc:spChg>
        <pc:picChg chg="add mod">
          <ac:chgData name="adhiti.sivakumar@gmail.com" userId="52d1b91b2091590b" providerId="LiveId" clId="{953BEA93-BFF5-49AD-8550-68FF4D6F6B69}" dt="2026-07-22T04:12:31.500" v="23" actId="1076"/>
          <ac:picMkLst>
            <pc:docMk/>
            <pc:sldMk cId="4183250650" sldId="322"/>
            <ac:picMk id="8" creationId="{F2B86131-9CA4-7C80-FB2C-1AEA30C4854B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">
          <a:extLst>
            <a:ext uri="{FF2B5EF4-FFF2-40B4-BE49-F238E27FC236}">
              <a16:creationId xmlns:a16="http://schemas.microsoft.com/office/drawing/2014/main" id="{A45E5E47-7D82-0E9D-2ED7-D98558AA67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2558abb5fb3_0_46:notes">
            <a:extLst>
              <a:ext uri="{FF2B5EF4-FFF2-40B4-BE49-F238E27FC236}">
                <a16:creationId xmlns:a16="http://schemas.microsoft.com/office/drawing/2014/main" id="{2F046FAC-45FA-EEFE-9537-894C863ED46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2558abb5fb3_0_46:notes">
            <a:extLst>
              <a:ext uri="{FF2B5EF4-FFF2-40B4-BE49-F238E27FC236}">
                <a16:creationId xmlns:a16="http://schemas.microsoft.com/office/drawing/2014/main" id="{879619FD-D34C-3D71-4131-08651BF81A5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943815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2558abb5fb3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2558abb5fb3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2558abb5fb3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2558abb5fb3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">
          <a:extLst>
            <a:ext uri="{FF2B5EF4-FFF2-40B4-BE49-F238E27FC236}">
              <a16:creationId xmlns:a16="http://schemas.microsoft.com/office/drawing/2014/main" id="{1D71A7E4-FCA9-3378-6811-F6B7D66C7D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2558abb5fb3_0_46:notes">
            <a:extLst>
              <a:ext uri="{FF2B5EF4-FFF2-40B4-BE49-F238E27FC236}">
                <a16:creationId xmlns:a16="http://schemas.microsoft.com/office/drawing/2014/main" id="{79DFB1A7-C030-2748-E85F-F93A50728BD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2558abb5fb3_0_46:notes">
            <a:extLst>
              <a:ext uri="{FF2B5EF4-FFF2-40B4-BE49-F238E27FC236}">
                <a16:creationId xmlns:a16="http://schemas.microsoft.com/office/drawing/2014/main" id="{C30B4DE1-80EA-F842-709B-39099BBADF7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2621351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">
          <a:extLst>
            <a:ext uri="{FF2B5EF4-FFF2-40B4-BE49-F238E27FC236}">
              <a16:creationId xmlns:a16="http://schemas.microsoft.com/office/drawing/2014/main" id="{FBDB8238-0B89-8D17-0B6E-144EA209F7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2558abb5fb3_0_46:notes">
            <a:extLst>
              <a:ext uri="{FF2B5EF4-FFF2-40B4-BE49-F238E27FC236}">
                <a16:creationId xmlns:a16="http://schemas.microsoft.com/office/drawing/2014/main" id="{93CEFF42-BD98-46B3-ECB7-238EFBED7E2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2558abb5fb3_0_46:notes">
            <a:extLst>
              <a:ext uri="{FF2B5EF4-FFF2-40B4-BE49-F238E27FC236}">
                <a16:creationId xmlns:a16="http://schemas.microsoft.com/office/drawing/2014/main" id="{987F8ECE-55CE-ECEA-163D-3F1EC5417EC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7985480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">
          <a:extLst>
            <a:ext uri="{FF2B5EF4-FFF2-40B4-BE49-F238E27FC236}">
              <a16:creationId xmlns:a16="http://schemas.microsoft.com/office/drawing/2014/main" id="{317E18C5-3F8D-CE7B-1230-392BE210E1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2558abb5fb3_0_46:notes">
            <a:extLst>
              <a:ext uri="{FF2B5EF4-FFF2-40B4-BE49-F238E27FC236}">
                <a16:creationId xmlns:a16="http://schemas.microsoft.com/office/drawing/2014/main" id="{4CB6FABD-2950-CEE4-7C76-BB9C6AFBFE4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2558abb5fb3_0_46:notes">
            <a:extLst>
              <a:ext uri="{FF2B5EF4-FFF2-40B4-BE49-F238E27FC236}">
                <a16:creationId xmlns:a16="http://schemas.microsoft.com/office/drawing/2014/main" id="{5AB3B122-3A4B-E1CC-D3B9-C75B723B07A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797267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">
          <a:extLst>
            <a:ext uri="{FF2B5EF4-FFF2-40B4-BE49-F238E27FC236}">
              <a16:creationId xmlns:a16="http://schemas.microsoft.com/office/drawing/2014/main" id="{1863BA0B-A63C-9789-02F8-43D5A539E6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2558abb5fb3_0_46:notes">
            <a:extLst>
              <a:ext uri="{FF2B5EF4-FFF2-40B4-BE49-F238E27FC236}">
                <a16:creationId xmlns:a16="http://schemas.microsoft.com/office/drawing/2014/main" id="{617B297E-A7EB-01DE-347C-099349263D9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2558abb5fb3_0_46:notes">
            <a:extLst>
              <a:ext uri="{FF2B5EF4-FFF2-40B4-BE49-F238E27FC236}">
                <a16:creationId xmlns:a16="http://schemas.microsoft.com/office/drawing/2014/main" id="{798D3E75-C60C-2A49-A2E5-CB3900DA237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1584757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">
          <a:extLst>
            <a:ext uri="{FF2B5EF4-FFF2-40B4-BE49-F238E27FC236}">
              <a16:creationId xmlns:a16="http://schemas.microsoft.com/office/drawing/2014/main" id="{C823F0DB-650F-BA95-5992-F872D98DC4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2558abb5fb3_0_46:notes">
            <a:extLst>
              <a:ext uri="{FF2B5EF4-FFF2-40B4-BE49-F238E27FC236}">
                <a16:creationId xmlns:a16="http://schemas.microsoft.com/office/drawing/2014/main" id="{16EFE6D9-10B0-AB40-662C-D43D38A313E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2558abb5fb3_0_46:notes">
            <a:extLst>
              <a:ext uri="{FF2B5EF4-FFF2-40B4-BE49-F238E27FC236}">
                <a16:creationId xmlns:a16="http://schemas.microsoft.com/office/drawing/2014/main" id="{FDA19142-659E-4045-93D3-A8213664CCD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0463018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">
          <a:extLst>
            <a:ext uri="{FF2B5EF4-FFF2-40B4-BE49-F238E27FC236}">
              <a16:creationId xmlns:a16="http://schemas.microsoft.com/office/drawing/2014/main" id="{A34B7FD3-EC8A-C214-26DF-2159A01F29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2558abb5fb3_0_46:notes">
            <a:extLst>
              <a:ext uri="{FF2B5EF4-FFF2-40B4-BE49-F238E27FC236}">
                <a16:creationId xmlns:a16="http://schemas.microsoft.com/office/drawing/2014/main" id="{0C8772AB-2C80-2BE4-9A31-DA3BF47C673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2558abb5fb3_0_46:notes">
            <a:extLst>
              <a:ext uri="{FF2B5EF4-FFF2-40B4-BE49-F238E27FC236}">
                <a16:creationId xmlns:a16="http://schemas.microsoft.com/office/drawing/2014/main" id="{2DB6B31C-CE39-2566-B641-15FD71FEFFD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2519802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">
          <a:extLst>
            <a:ext uri="{FF2B5EF4-FFF2-40B4-BE49-F238E27FC236}">
              <a16:creationId xmlns:a16="http://schemas.microsoft.com/office/drawing/2014/main" id="{264BFF63-955C-1518-ED68-832C36F4C4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2558abb5fb3_0_46:notes">
            <a:extLst>
              <a:ext uri="{FF2B5EF4-FFF2-40B4-BE49-F238E27FC236}">
                <a16:creationId xmlns:a16="http://schemas.microsoft.com/office/drawing/2014/main" id="{F5728BEF-6A44-585F-9234-C918202AE7F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2558abb5fb3_0_46:notes">
            <a:extLst>
              <a:ext uri="{FF2B5EF4-FFF2-40B4-BE49-F238E27FC236}">
                <a16:creationId xmlns:a16="http://schemas.microsoft.com/office/drawing/2014/main" id="{4E4F0408-E605-A541-9A86-F6F3B8302E2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4313945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">
          <a:extLst>
            <a:ext uri="{FF2B5EF4-FFF2-40B4-BE49-F238E27FC236}">
              <a16:creationId xmlns:a16="http://schemas.microsoft.com/office/drawing/2014/main" id="{BE15E72D-2E12-D1DB-9358-F066A6A2F3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2558abb5fb3_0_46:notes">
            <a:extLst>
              <a:ext uri="{FF2B5EF4-FFF2-40B4-BE49-F238E27FC236}">
                <a16:creationId xmlns:a16="http://schemas.microsoft.com/office/drawing/2014/main" id="{2B4C54FD-08F5-C07B-7283-436E99BAF7C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2558abb5fb3_0_46:notes">
            <a:extLst>
              <a:ext uri="{FF2B5EF4-FFF2-40B4-BE49-F238E27FC236}">
                <a16:creationId xmlns:a16="http://schemas.microsoft.com/office/drawing/2014/main" id="{B004275C-1205-E71A-7559-22380F158CC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4654309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">
          <a:extLst>
            <a:ext uri="{FF2B5EF4-FFF2-40B4-BE49-F238E27FC236}">
              <a16:creationId xmlns:a16="http://schemas.microsoft.com/office/drawing/2014/main" id="{64F63998-EE78-591B-4C7D-0B40898D09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2558abb5fb3_0_46:notes">
            <a:extLst>
              <a:ext uri="{FF2B5EF4-FFF2-40B4-BE49-F238E27FC236}">
                <a16:creationId xmlns:a16="http://schemas.microsoft.com/office/drawing/2014/main" id="{82DA086A-D3E9-21CC-9011-5F4BAD48431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2558abb5fb3_0_46:notes">
            <a:extLst>
              <a:ext uri="{FF2B5EF4-FFF2-40B4-BE49-F238E27FC236}">
                <a16:creationId xmlns:a16="http://schemas.microsoft.com/office/drawing/2014/main" id="{B0AD8CF5-03FE-FADB-9AC8-DDF8260ED4C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6454887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">
          <a:extLst>
            <a:ext uri="{FF2B5EF4-FFF2-40B4-BE49-F238E27FC236}">
              <a16:creationId xmlns:a16="http://schemas.microsoft.com/office/drawing/2014/main" id="{232655E6-C807-31AD-8579-E69EE00EE2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2558abb5fb3_0_46:notes">
            <a:extLst>
              <a:ext uri="{FF2B5EF4-FFF2-40B4-BE49-F238E27FC236}">
                <a16:creationId xmlns:a16="http://schemas.microsoft.com/office/drawing/2014/main" id="{7A690C83-FC95-FA41-3306-032E5B4645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2558abb5fb3_0_46:notes">
            <a:extLst>
              <a:ext uri="{FF2B5EF4-FFF2-40B4-BE49-F238E27FC236}">
                <a16:creationId xmlns:a16="http://schemas.microsoft.com/office/drawing/2014/main" id="{28569613-44EB-E27F-1E01-6D5BD0C5CBF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2704797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g2572bee519d_0_2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6" name="Google Shape;376;g2572bee519d_0_2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lt1"/>
        </a:solid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 rotWithShape="1">
          <a:blip r:embed="rId2">
            <a:alphaModFix/>
          </a:blip>
          <a:srcRect l="-55210" t="50562" r="55210" b="-6812"/>
          <a:stretch/>
        </p:blipFill>
        <p:spPr>
          <a:xfrm rot="10800000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l="-19690" t="41478" r="19690" b="2272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711750" y="1958600"/>
            <a:ext cx="4280100" cy="264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90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4572000" y="535000"/>
            <a:ext cx="3860400" cy="38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bg>
      <p:bgPr>
        <a:solidFill>
          <a:schemeClr val="lt1"/>
        </a:solidFill>
        <a:effectLst/>
      </p:bgPr>
    </p:bg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Google Shape;25;p5"/>
          <p:cNvPicPr preferRelativeResize="0"/>
          <p:nvPr/>
        </p:nvPicPr>
        <p:blipFill rotWithShape="1">
          <a:blip r:embed="rId2">
            <a:alphaModFix/>
          </a:blip>
          <a:srcRect l="-55210" t="50562" r="55210" b="-6812"/>
          <a:stretch/>
        </p:blipFill>
        <p:spPr>
          <a:xfrm rot="10800000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Google Shape;26;p5"/>
          <p:cNvSpPr txBox="1">
            <a:spLocks noGrp="1"/>
          </p:cNvSpPr>
          <p:nvPr>
            <p:ph type="subTitle" idx="1"/>
          </p:nvPr>
        </p:nvSpPr>
        <p:spPr>
          <a:xfrm>
            <a:off x="1189750" y="1742900"/>
            <a:ext cx="2907600" cy="21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13900" cy="548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subTitle" idx="2"/>
          </p:nvPr>
        </p:nvSpPr>
        <p:spPr>
          <a:xfrm>
            <a:off x="5046650" y="1742900"/>
            <a:ext cx="2907600" cy="21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BLANK_1_1">
    <p:bg>
      <p:bgPr>
        <a:solidFill>
          <a:schemeClr val="lt1"/>
        </a:solidFill>
        <a:effectLst/>
      </p:bgPr>
    </p:bg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Google Shape;73;p14"/>
          <p:cNvPicPr preferRelativeResize="0"/>
          <p:nvPr/>
        </p:nvPicPr>
        <p:blipFill rotWithShape="1">
          <a:blip r:embed="rId2">
            <a:alphaModFix/>
          </a:blip>
          <a:srcRect l="-6644" t="13471" r="27549" b="-35825"/>
          <a:stretch/>
        </p:blipFill>
        <p:spPr>
          <a:xfrm>
            <a:off x="5819050" y="0"/>
            <a:ext cx="332495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14"/>
          <p:cNvPicPr preferRelativeResize="0"/>
          <p:nvPr/>
        </p:nvPicPr>
        <p:blipFill rotWithShape="1">
          <a:blip r:embed="rId2">
            <a:alphaModFix/>
          </a:blip>
          <a:srcRect l="-235243" t="44962" r="44461" b="-108521"/>
          <a:stretch/>
        </p:blipFill>
        <p:spPr>
          <a:xfrm rot="10800000">
            <a:off x="-10150" y="0"/>
            <a:ext cx="9154150" cy="5148375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4"/>
          <p:cNvSpPr txBox="1">
            <a:spLocks noGrp="1"/>
          </p:cNvSpPr>
          <p:nvPr>
            <p:ph type="subTitle" idx="1"/>
          </p:nvPr>
        </p:nvSpPr>
        <p:spPr>
          <a:xfrm>
            <a:off x="715100" y="1503175"/>
            <a:ext cx="5930100" cy="200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30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76" name="Google Shape;76;p14"/>
          <p:cNvSpPr txBox="1">
            <a:spLocks noGrp="1"/>
          </p:cNvSpPr>
          <p:nvPr>
            <p:ph type="subTitle" idx="2"/>
          </p:nvPr>
        </p:nvSpPr>
        <p:spPr>
          <a:xfrm>
            <a:off x="715100" y="3965300"/>
            <a:ext cx="5930100" cy="456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18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bg>
      <p:bgPr>
        <a:solidFill>
          <a:schemeClr val="lt1"/>
        </a:solidFill>
        <a:effectLst/>
      </p:bgPr>
    </p:bg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Google Shape;175;p30"/>
          <p:cNvPicPr preferRelativeResize="0"/>
          <p:nvPr/>
        </p:nvPicPr>
        <p:blipFill rotWithShape="1">
          <a:blip r:embed="rId2">
            <a:alphaModFix/>
          </a:blip>
          <a:srcRect l="-6644" t="13471" r="27549" b="-35825"/>
          <a:stretch/>
        </p:blipFill>
        <p:spPr>
          <a:xfrm flipH="1">
            <a:off x="-10680" y="-2437"/>
            <a:ext cx="3321293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30"/>
          <p:cNvPicPr preferRelativeResize="0"/>
          <p:nvPr/>
        </p:nvPicPr>
        <p:blipFill rotWithShape="1">
          <a:blip r:embed="rId2">
            <a:alphaModFix/>
          </a:blip>
          <a:srcRect l="-235243" t="44962" r="44461" b="-108521"/>
          <a:stretch/>
        </p:blipFill>
        <p:spPr>
          <a:xfrm rot="10800000" flipH="1">
            <a:off x="-10680" y="-2437"/>
            <a:ext cx="9144080" cy="5148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">
    <p:bg>
      <p:bgPr>
        <a:solidFill>
          <a:schemeClr val="lt1"/>
        </a:solidFill>
        <a:effectLst/>
      </p:bgPr>
    </p:bg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Google Shape;178;p31"/>
          <p:cNvPicPr preferRelativeResize="0"/>
          <p:nvPr/>
        </p:nvPicPr>
        <p:blipFill rotWithShape="1">
          <a:blip r:embed="rId2">
            <a:alphaModFix/>
          </a:blip>
          <a:srcRect l="-55210" t="50562" r="55210" b="-6812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31"/>
          <p:cNvPicPr preferRelativeResize="0"/>
          <p:nvPr/>
        </p:nvPicPr>
        <p:blipFill rotWithShape="1">
          <a:blip r:embed="rId2">
            <a:alphaModFix/>
          </a:blip>
          <a:srcRect l="-55210" t="50562" r="55210" b="-6812"/>
          <a:stretch/>
        </p:blipFill>
        <p:spPr>
          <a:xfrm rot="10800000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accent6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139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5100" y="1083700"/>
            <a:ext cx="7713900" cy="3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●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○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■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●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○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■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●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○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■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1" r:id="rId2"/>
    <p:sldLayoutId id="2147483658" r:id="rId3"/>
    <p:sldLayoutId id="2147483660" r:id="rId4"/>
    <p:sldLayoutId id="2147483676" r:id="rId5"/>
    <p:sldLayoutId id="2147483677" r:id="rId6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bin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bin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eeksforgeeks.org/merge-sort/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geeksforgeeks.org/analysis-of-algorithms-set-3asymptotic-notations/" TargetMode="External"/><Relationship Id="rId4" Type="http://schemas.openxmlformats.org/officeDocument/2006/relationships/hyperlink" Target="https://www.geeksforgeeks.org/quick-sort-algorithm/" TargetMode="Externa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8">
          <a:extLst>
            <a:ext uri="{FF2B5EF4-FFF2-40B4-BE49-F238E27FC236}">
              <a16:creationId xmlns:a16="http://schemas.microsoft.com/office/drawing/2014/main" id="{7266A472-0089-6638-D3E1-78312CF6E3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F2B86131-9CA4-7C80-FB2C-1AEA30C485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5617" y="0"/>
            <a:ext cx="5644166" cy="5107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32506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5"/>
          <p:cNvSpPr txBox="1">
            <a:spLocks noGrp="1"/>
          </p:cNvSpPr>
          <p:nvPr>
            <p:ph type="ctrTitle"/>
          </p:nvPr>
        </p:nvSpPr>
        <p:spPr>
          <a:xfrm>
            <a:off x="711750" y="896093"/>
            <a:ext cx="7401940" cy="135127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en-US" sz="44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Asymptotic Analysis of Sorting Algorithms</a:t>
            </a:r>
            <a:endParaRPr sz="4400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364F83B-1AF1-6B14-FC11-358FBFA4341A}"/>
              </a:ext>
            </a:extLst>
          </p:cNvPr>
          <p:cNvSpPr txBox="1"/>
          <p:nvPr/>
        </p:nvSpPr>
        <p:spPr>
          <a:xfrm>
            <a:off x="711750" y="2559661"/>
            <a:ext cx="81553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Comparative Study of Merge Sort and Quick Sort</a:t>
            </a:r>
            <a:endParaRPr lang="en-IN" sz="28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3B4950A-4645-49F4-A2EF-F39DE132F56E}"/>
              </a:ext>
            </a:extLst>
          </p:cNvPr>
          <p:cNvSpPr txBox="1"/>
          <p:nvPr/>
        </p:nvSpPr>
        <p:spPr>
          <a:xfrm>
            <a:off x="6561786" y="3395179"/>
            <a:ext cx="1841678" cy="1421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 :</a:t>
            </a:r>
          </a:p>
          <a:p>
            <a:pPr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Adhiti. S</a:t>
            </a:r>
          </a:p>
          <a:p>
            <a:pPr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192411069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59909D0-CE2E-2454-E3A3-FF7FB996A2ED}"/>
              </a:ext>
            </a:extLst>
          </p:cNvPr>
          <p:cNvSpPr txBox="1"/>
          <p:nvPr/>
        </p:nvSpPr>
        <p:spPr>
          <a:xfrm>
            <a:off x="711750" y="3395179"/>
            <a:ext cx="3412903" cy="1421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Course Code: CSA0606</a:t>
            </a:r>
          </a:p>
          <a:p>
            <a:pPr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Course Name: Design and Analysis of Algorithms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41"/>
          <p:cNvSpPr txBox="1">
            <a:spLocks noGrp="1"/>
          </p:cNvSpPr>
          <p:nvPr>
            <p:ph type="title"/>
          </p:nvPr>
        </p:nvSpPr>
        <p:spPr>
          <a:xfrm>
            <a:off x="570001" y="438409"/>
            <a:ext cx="8003996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ubtitle 1">
            <a:extLst>
              <a:ext uri="{FF2B5EF4-FFF2-40B4-BE49-F238E27FC236}">
                <a16:creationId xmlns:a16="http://schemas.microsoft.com/office/drawing/2014/main" id="{28BC6B45-ED42-C7C0-5F93-97CD5C773BBE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516820" y="1183468"/>
            <a:ext cx="8110358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Sorting algorithms arrange data in ascending or descending order to enable faster processing and searching.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Merge Sort and Quick Sort are efficient divide-and-conquer algorithms widely used for handling large datasets.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Asymptotic analysis evaluates an algorithm's efficiency by measuring its time complexity as the input size increases.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8">
          <a:extLst>
            <a:ext uri="{FF2B5EF4-FFF2-40B4-BE49-F238E27FC236}">
              <a16:creationId xmlns:a16="http://schemas.microsoft.com/office/drawing/2014/main" id="{A7B2478B-F98B-6B09-A405-530D1FC49C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41">
            <a:extLst>
              <a:ext uri="{FF2B5EF4-FFF2-40B4-BE49-F238E27FC236}">
                <a16:creationId xmlns:a16="http://schemas.microsoft.com/office/drawing/2014/main" id="{16836CDB-8504-6F88-0F17-330952E63ED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70001" y="438409"/>
            <a:ext cx="8003996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ubtitle 1">
            <a:extLst>
              <a:ext uri="{FF2B5EF4-FFF2-40B4-BE49-F238E27FC236}">
                <a16:creationId xmlns:a16="http://schemas.microsoft.com/office/drawing/2014/main" id="{5530501B-61E4-9143-8ADB-59B9690B5C71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516820" y="1183468"/>
            <a:ext cx="8110358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Large datasets require efficient sorting for faster processing and better system performance.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Different sorting algorithms perform differently depending on the input size and data arrangement.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2000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 can we compare Merge Sort and Quick Sort using asymptotic analysis to identify the most efficient algorithm for different scenarios?</a:t>
            </a:r>
            <a:endParaRPr kumimoji="0" lang="en-US" altLang="en-US" sz="2000" b="1" i="1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64967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8">
          <a:extLst>
            <a:ext uri="{FF2B5EF4-FFF2-40B4-BE49-F238E27FC236}">
              <a16:creationId xmlns:a16="http://schemas.microsoft.com/office/drawing/2014/main" id="{D330D165-DD52-29AD-3F06-6271A38725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41">
            <a:extLst>
              <a:ext uri="{FF2B5EF4-FFF2-40B4-BE49-F238E27FC236}">
                <a16:creationId xmlns:a16="http://schemas.microsoft.com/office/drawing/2014/main" id="{9A7A18B0-3DBF-5D50-80C6-BB0FC847489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70001" y="438409"/>
            <a:ext cx="8003996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MERGE SORT</a:t>
            </a:r>
            <a:endParaRPr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ubtitle 1">
            <a:extLst>
              <a:ext uri="{FF2B5EF4-FFF2-40B4-BE49-F238E27FC236}">
                <a16:creationId xmlns:a16="http://schemas.microsoft.com/office/drawing/2014/main" id="{C2F0AFB5-BE13-565D-8775-1079DCAFB33F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516821" y="876350"/>
            <a:ext cx="4602531" cy="40626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Divide: Divide the list or array recursively into two halves until it can no more be divided.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Conquer: Each subarray is sorted individually using the merge sort algorithm.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Merge: The sorted subarrays are merged back together in sorted order. 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CE016AB-76AC-0002-F484-20D5B4C09F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9352" y="1237633"/>
            <a:ext cx="3687664" cy="266823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041B010-4A15-0FFC-2D98-DCB3D5F4835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0842"/>
          <a:stretch>
            <a:fillRect/>
          </a:stretch>
        </p:blipFill>
        <p:spPr>
          <a:xfrm>
            <a:off x="5259127" y="4156391"/>
            <a:ext cx="3314870" cy="781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17489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8">
          <a:extLst>
            <a:ext uri="{FF2B5EF4-FFF2-40B4-BE49-F238E27FC236}">
              <a16:creationId xmlns:a16="http://schemas.microsoft.com/office/drawing/2014/main" id="{C1CB601F-6EFB-2498-1FA7-FBF9ED78FC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41">
            <a:extLst>
              <a:ext uri="{FF2B5EF4-FFF2-40B4-BE49-F238E27FC236}">
                <a16:creationId xmlns:a16="http://schemas.microsoft.com/office/drawing/2014/main" id="{3B464402-FEA8-B5B5-86BE-5F9B3E19561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4471" y="393333"/>
            <a:ext cx="8003996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QUICK SORT</a:t>
            </a:r>
            <a:endParaRPr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ubtitle 1">
            <a:extLst>
              <a:ext uri="{FF2B5EF4-FFF2-40B4-BE49-F238E27FC236}">
                <a16:creationId xmlns:a16="http://schemas.microsoft.com/office/drawing/2014/main" id="{11D6B12A-8FE5-B3EF-B2D2-AC0DDA07252D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394471" y="942033"/>
            <a:ext cx="5240035" cy="40626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Choose a Pivot: Select an element from the array as the pivot. 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Partition the Array: After partitioning, all elements smaller than the pivot will be on its left, and all elements greater than the pivot will be on its right.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Recursively Call: Recursively apply the same process to the two partitioned sub-arrays.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2886F7F-664B-F1BF-5AF7-9C1277DC17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0793" y="1490733"/>
            <a:ext cx="3454466" cy="253050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E2D4D15-AC7A-7548-F263-AF85AB70EE7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0842"/>
          <a:stretch>
            <a:fillRect/>
          </a:stretch>
        </p:blipFill>
        <p:spPr>
          <a:xfrm>
            <a:off x="5620591" y="4122292"/>
            <a:ext cx="3314870" cy="781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87798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8">
          <a:extLst>
            <a:ext uri="{FF2B5EF4-FFF2-40B4-BE49-F238E27FC236}">
              <a16:creationId xmlns:a16="http://schemas.microsoft.com/office/drawing/2014/main" id="{A9478E94-5C17-CF87-6441-4EC8EB30E2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41">
            <a:extLst>
              <a:ext uri="{FF2B5EF4-FFF2-40B4-BE49-F238E27FC236}">
                <a16:creationId xmlns:a16="http://schemas.microsoft.com/office/drawing/2014/main" id="{8F081D8C-5B24-2F94-1D84-E9D698CCFB5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4166" y="2274862"/>
            <a:ext cx="3493283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  <a:endParaRPr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E966EAA-22A9-26D6-6B58-9F4F2418F00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1894" b="7230"/>
          <a:stretch>
            <a:fillRect/>
          </a:stretch>
        </p:blipFill>
        <p:spPr>
          <a:xfrm>
            <a:off x="3775302" y="0"/>
            <a:ext cx="4911498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2008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8">
          <a:extLst>
            <a:ext uri="{FF2B5EF4-FFF2-40B4-BE49-F238E27FC236}">
              <a16:creationId xmlns:a16="http://schemas.microsoft.com/office/drawing/2014/main" id="{5838344F-4BA8-A3E3-CFEC-65A30E5567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41">
            <a:extLst>
              <a:ext uri="{FF2B5EF4-FFF2-40B4-BE49-F238E27FC236}">
                <a16:creationId xmlns:a16="http://schemas.microsoft.com/office/drawing/2014/main" id="{169548A2-6D93-346B-71D9-FE769DEF6C2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70001" y="438409"/>
            <a:ext cx="8003996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MERGE SORT - IMPLEMENTATION</a:t>
            </a:r>
            <a:endParaRPr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ubtitle 1">
            <a:extLst>
              <a:ext uri="{FF2B5EF4-FFF2-40B4-BE49-F238E27FC236}">
                <a16:creationId xmlns:a16="http://schemas.microsoft.com/office/drawing/2014/main" id="{92C06EB9-554E-0C2C-8B0E-B0C7CE310EB3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516820" y="1288771"/>
            <a:ext cx="4344955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void </a:t>
            </a:r>
            <a:r>
              <a:rPr lang="en-US" alt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mergeSort</a:t>
            </a: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(int </a:t>
            </a:r>
            <a:r>
              <a:rPr lang="en-US" alt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arr</a:t>
            </a: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[], int left, int right)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if(left &lt; right)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{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int mid = (left + right) / 2;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endParaRPr lang="en-US" alt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alt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mergeSort</a:t>
            </a: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arr</a:t>
            </a: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left, mid);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alt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mergeSort</a:t>
            </a: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arr</a:t>
            </a: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mid + 1, right);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endParaRPr lang="en-US" alt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merge(</a:t>
            </a:r>
            <a:r>
              <a:rPr lang="en-US" alt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arr</a:t>
            </a: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left, mid, right);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B2449E-3DC4-4BDB-0062-CD9CFEE5E230}"/>
              </a:ext>
            </a:extLst>
          </p:cNvPr>
          <p:cNvSpPr txBox="1"/>
          <p:nvPr/>
        </p:nvSpPr>
        <p:spPr>
          <a:xfrm>
            <a:off x="5132230" y="1288771"/>
            <a:ext cx="3741313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while(i &lt; n1 &amp;&amp; j &lt; n2)</a:t>
            </a:r>
          </a:p>
          <a:p>
            <a:r>
              <a:rPr lang="pt-B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r>
              <a:rPr lang="pt-B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if(L[i] &lt;= R[j])</a:t>
            </a:r>
          </a:p>
          <a:p>
            <a:r>
              <a:rPr lang="pt-B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arr[k++] = L[i++];</a:t>
            </a:r>
          </a:p>
          <a:p>
            <a:r>
              <a:rPr lang="pt-B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else</a:t>
            </a:r>
          </a:p>
          <a:p>
            <a:r>
              <a:rPr lang="pt-B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arr[k++] = R[j++];</a:t>
            </a:r>
          </a:p>
          <a:p>
            <a:r>
              <a:rPr lang="pt-B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E58F0E9-C757-479C-196D-E11F8EC5FC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7626" y="3550431"/>
            <a:ext cx="3279554" cy="1315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8913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8">
          <a:extLst>
            <a:ext uri="{FF2B5EF4-FFF2-40B4-BE49-F238E27FC236}">
              <a16:creationId xmlns:a16="http://schemas.microsoft.com/office/drawing/2014/main" id="{B8E74AD0-CE60-7BC6-AEEF-A5226E2169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41">
            <a:extLst>
              <a:ext uri="{FF2B5EF4-FFF2-40B4-BE49-F238E27FC236}">
                <a16:creationId xmlns:a16="http://schemas.microsoft.com/office/drawing/2014/main" id="{356F760F-F4E6-F54A-9A4D-D60B048AF41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70001" y="438409"/>
            <a:ext cx="8003996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QUICK SORT - IMPLEMENTATION</a:t>
            </a:r>
            <a:endParaRPr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ubtitle 1">
            <a:extLst>
              <a:ext uri="{FF2B5EF4-FFF2-40B4-BE49-F238E27FC236}">
                <a16:creationId xmlns:a16="http://schemas.microsoft.com/office/drawing/2014/main" id="{ADA654C8-2516-C494-35B4-2EE19B49DDD0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570001" y="1244016"/>
            <a:ext cx="4235484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void </a:t>
            </a:r>
            <a:r>
              <a:rPr lang="en-US" alt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quickSort</a:t>
            </a: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(int </a:t>
            </a:r>
            <a:r>
              <a:rPr lang="en-US" alt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arr</a:t>
            </a: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[], int low, int high)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if(low &lt; high)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{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int </a:t>
            </a:r>
            <a:r>
              <a:rPr lang="en-US" alt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pivotIndex</a:t>
            </a: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partition(</a:t>
            </a:r>
            <a:r>
              <a:rPr lang="en-US" alt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arr</a:t>
            </a: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low, high);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endParaRPr lang="en-US" alt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alt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quickSort</a:t>
            </a: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arr</a:t>
            </a: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low, </a:t>
            </a:r>
            <a:r>
              <a:rPr lang="en-US" alt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pivotIndex</a:t>
            </a: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- 1);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alt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quickSort</a:t>
            </a: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arr</a:t>
            </a: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pivotIndex</a:t>
            </a: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+ 1, high);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69B9E6E-DDE2-E548-86EB-1B458BAEC3C0}"/>
              </a:ext>
            </a:extLst>
          </p:cNvPr>
          <p:cNvSpPr txBox="1"/>
          <p:nvPr/>
        </p:nvSpPr>
        <p:spPr>
          <a:xfrm>
            <a:off x="5241703" y="1244016"/>
            <a:ext cx="342578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void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quickSort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(int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arr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[], int low, int high)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if(low &lt; high)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{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int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pivotIndex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partition(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arr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low, high);</a:t>
            </a:r>
          </a:p>
          <a:p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quickSort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arr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low,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pivotIndex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- 1);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quickSort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arr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pivotIndex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+ 1, high);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7361057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8">
          <a:extLst>
            <a:ext uri="{FF2B5EF4-FFF2-40B4-BE49-F238E27FC236}">
              <a16:creationId xmlns:a16="http://schemas.microsoft.com/office/drawing/2014/main" id="{AF50515F-82E7-C8B6-0349-BA87C1CDAA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41">
            <a:extLst>
              <a:ext uri="{FF2B5EF4-FFF2-40B4-BE49-F238E27FC236}">
                <a16:creationId xmlns:a16="http://schemas.microsoft.com/office/drawing/2014/main" id="{B775BD8F-8F44-2AC5-C56B-2DCF1855319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29811" y="180832"/>
            <a:ext cx="8003996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COMPLEXITY ANALYSIS</a:t>
            </a:r>
            <a:endParaRPr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7DEDDC3-11B6-8BAE-1419-8D34C07477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9146083"/>
              </p:ext>
            </p:extLst>
          </p:nvPr>
        </p:nvGraphicFramePr>
        <p:xfrm>
          <a:off x="610191" y="895080"/>
          <a:ext cx="7923616" cy="4157664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1980904">
                  <a:extLst>
                    <a:ext uri="{9D8B030D-6E8A-4147-A177-3AD203B41FA5}">
                      <a16:colId xmlns:a16="http://schemas.microsoft.com/office/drawing/2014/main" val="404939155"/>
                    </a:ext>
                  </a:extLst>
                </a:gridCol>
                <a:gridCol w="1980904">
                  <a:extLst>
                    <a:ext uri="{9D8B030D-6E8A-4147-A177-3AD203B41FA5}">
                      <a16:colId xmlns:a16="http://schemas.microsoft.com/office/drawing/2014/main" val="3862066122"/>
                    </a:ext>
                  </a:extLst>
                </a:gridCol>
                <a:gridCol w="1980904">
                  <a:extLst>
                    <a:ext uri="{9D8B030D-6E8A-4147-A177-3AD203B41FA5}">
                      <a16:colId xmlns:a16="http://schemas.microsoft.com/office/drawing/2014/main" val="1363093979"/>
                    </a:ext>
                  </a:extLst>
                </a:gridCol>
                <a:gridCol w="1980904">
                  <a:extLst>
                    <a:ext uri="{9D8B030D-6E8A-4147-A177-3AD203B41FA5}">
                      <a16:colId xmlns:a16="http://schemas.microsoft.com/office/drawing/2014/main" val="2373504646"/>
                    </a:ext>
                  </a:extLst>
                </a:gridCol>
              </a:tblGrid>
              <a:tr h="18481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 dirty="0"/>
                        <a:t>Case</a:t>
                      </a:r>
                      <a:endParaRPr lang="en-IN" sz="1200" dirty="0"/>
                    </a:p>
                  </a:txBody>
                  <a:tcPr marL="52864" marR="52864" marT="26432" marB="2643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/>
                        <a:t>Merge Sort</a:t>
                      </a:r>
                      <a:endParaRPr lang="en-IN" sz="1200"/>
                    </a:p>
                  </a:txBody>
                  <a:tcPr marL="52864" marR="52864" marT="26432" marB="2643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/>
                        <a:t>Quick Sort</a:t>
                      </a:r>
                      <a:endParaRPr lang="en-IN" sz="1200"/>
                    </a:p>
                  </a:txBody>
                  <a:tcPr marL="52864" marR="52864" marT="26432" marB="2643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 dirty="0"/>
                        <a:t>Explanation</a:t>
                      </a:r>
                      <a:endParaRPr lang="en-IN" sz="1200" dirty="0"/>
                    </a:p>
                  </a:txBody>
                  <a:tcPr marL="52864" marR="52864" marT="26432" marB="26432" anchor="ctr"/>
                </a:tc>
                <a:extLst>
                  <a:ext uri="{0D108BD9-81ED-4DB2-BD59-A6C34878D82A}">
                    <a16:rowId xmlns:a16="http://schemas.microsoft.com/office/drawing/2014/main" val="2831700979"/>
                  </a:ext>
                </a:extLst>
              </a:tr>
              <a:tr h="70228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 dirty="0"/>
                        <a:t>Best Case</a:t>
                      </a:r>
                      <a:endParaRPr lang="en-IN" sz="1200" dirty="0"/>
                    </a:p>
                  </a:txBody>
                  <a:tcPr marL="52864" marR="52864" marT="26432" marB="2643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 dirty="0"/>
                        <a:t>O(n log n)</a:t>
                      </a:r>
                      <a:endParaRPr lang="en-IN" sz="1200" dirty="0"/>
                    </a:p>
                  </a:txBody>
                  <a:tcPr marL="52864" marR="52864" marT="26432" marB="2643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/>
                        <a:t>O(n log n)</a:t>
                      </a:r>
                      <a:endParaRPr lang="en-IN" sz="1200"/>
                    </a:p>
                  </a:txBody>
                  <a:tcPr marL="52864" marR="52864" marT="26432" marB="2643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Array is divided into balanced partitions, requiring log n levels with n operations at each level.</a:t>
                      </a:r>
                    </a:p>
                  </a:txBody>
                  <a:tcPr marL="52864" marR="52864" marT="26432" marB="26432" anchor="ctr"/>
                </a:tc>
                <a:extLst>
                  <a:ext uri="{0D108BD9-81ED-4DB2-BD59-A6C34878D82A}">
                    <a16:rowId xmlns:a16="http://schemas.microsoft.com/office/drawing/2014/main" val="1388542696"/>
                  </a:ext>
                </a:extLst>
              </a:tr>
              <a:tr h="57291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/>
                        <a:t>Average Case</a:t>
                      </a:r>
                      <a:endParaRPr lang="en-IN" sz="1200"/>
                    </a:p>
                  </a:txBody>
                  <a:tcPr marL="52864" marR="52864" marT="26432" marB="2643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 dirty="0"/>
                        <a:t>O(n log n)</a:t>
                      </a:r>
                      <a:endParaRPr lang="en-IN" sz="1200" dirty="0"/>
                    </a:p>
                  </a:txBody>
                  <a:tcPr marL="52864" marR="52864" marT="26432" marB="2643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 dirty="0"/>
                        <a:t>O(n log n)</a:t>
                      </a:r>
                      <a:endParaRPr lang="en-IN" sz="1200" dirty="0"/>
                    </a:p>
                  </a:txBody>
                  <a:tcPr marL="52864" marR="52864" marT="26432" marB="2643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Both algorithms generally perform efficiently for random input data.</a:t>
                      </a:r>
                    </a:p>
                  </a:txBody>
                  <a:tcPr marL="52864" marR="52864" marT="26432" marB="26432" anchor="ctr"/>
                </a:tc>
                <a:extLst>
                  <a:ext uri="{0D108BD9-81ED-4DB2-BD59-A6C34878D82A}">
                    <a16:rowId xmlns:a16="http://schemas.microsoft.com/office/drawing/2014/main" val="3555330800"/>
                  </a:ext>
                </a:extLst>
              </a:tr>
              <a:tr h="83165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/>
                        <a:t>Worst Case</a:t>
                      </a:r>
                      <a:endParaRPr lang="en-IN" sz="1200"/>
                    </a:p>
                  </a:txBody>
                  <a:tcPr marL="52864" marR="52864" marT="26432" marB="2643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 dirty="0"/>
                        <a:t>O(n log n)</a:t>
                      </a:r>
                      <a:endParaRPr lang="en-IN" sz="1200" dirty="0"/>
                    </a:p>
                  </a:txBody>
                  <a:tcPr marL="52864" marR="52864" marT="26432" marB="2643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 dirty="0"/>
                        <a:t>O(n²)</a:t>
                      </a:r>
                      <a:endParaRPr lang="en-IN" sz="1200" dirty="0"/>
                    </a:p>
                  </a:txBody>
                  <a:tcPr marL="52864" marR="52864" marT="26432" marB="2643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Merge Sort remains consistent, while Quick Sort degrades when the pivot produces highly unbalanced partitions.</a:t>
                      </a:r>
                    </a:p>
                  </a:txBody>
                  <a:tcPr marL="52864" marR="52864" marT="26432" marB="26432" anchor="ctr"/>
                </a:tc>
                <a:extLst>
                  <a:ext uri="{0D108BD9-81ED-4DB2-BD59-A6C34878D82A}">
                    <a16:rowId xmlns:a16="http://schemas.microsoft.com/office/drawing/2014/main" val="1218360468"/>
                  </a:ext>
                </a:extLst>
              </a:tr>
              <a:tr h="83165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/>
                        <a:t>Space Complexity</a:t>
                      </a:r>
                      <a:endParaRPr lang="en-IN" sz="1200"/>
                    </a:p>
                  </a:txBody>
                  <a:tcPr marL="52864" marR="52864" marT="26432" marB="2643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/>
                        <a:t>O(n)</a:t>
                      </a:r>
                      <a:endParaRPr lang="en-IN" sz="1200"/>
                    </a:p>
                  </a:txBody>
                  <a:tcPr marL="52864" marR="52864" marT="26432" marB="2643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 dirty="0"/>
                        <a:t>O(log n)</a:t>
                      </a:r>
                      <a:endParaRPr lang="en-IN" sz="1200" dirty="0"/>
                    </a:p>
                  </a:txBody>
                  <a:tcPr marL="52864" marR="52864" marT="26432" marB="2643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Merge Sort requires additional memory for merging, whereas Quick Sort mainly uses recursion stack space.</a:t>
                      </a:r>
                    </a:p>
                  </a:txBody>
                  <a:tcPr marL="52864" marR="52864" marT="26432" marB="26432" anchor="ctr"/>
                </a:tc>
                <a:extLst>
                  <a:ext uri="{0D108BD9-81ED-4DB2-BD59-A6C34878D82A}">
                    <a16:rowId xmlns:a16="http://schemas.microsoft.com/office/drawing/2014/main" val="3358904067"/>
                  </a:ext>
                </a:extLst>
              </a:tr>
              <a:tr h="57291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/>
                        <a:t>Stability</a:t>
                      </a:r>
                      <a:endParaRPr lang="en-IN" sz="1200"/>
                    </a:p>
                  </a:txBody>
                  <a:tcPr marL="52864" marR="52864" marT="26432" marB="2643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/>
                        <a:t>Stable</a:t>
                      </a:r>
                      <a:endParaRPr lang="en-IN" sz="1200"/>
                    </a:p>
                  </a:txBody>
                  <a:tcPr marL="52864" marR="52864" marT="26432" marB="2643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/>
                        <a:t>Not Stable</a:t>
                      </a:r>
                      <a:endParaRPr lang="en-IN" sz="1200"/>
                    </a:p>
                  </a:txBody>
                  <a:tcPr marL="52864" marR="52864" marT="26432" marB="2643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Merge Sort preserves the order of equal elements; Quick Sort may change it.</a:t>
                      </a:r>
                    </a:p>
                  </a:txBody>
                  <a:tcPr marL="52864" marR="52864" marT="26432" marB="26432" anchor="ctr"/>
                </a:tc>
                <a:extLst>
                  <a:ext uri="{0D108BD9-81ED-4DB2-BD59-A6C34878D82A}">
                    <a16:rowId xmlns:a16="http://schemas.microsoft.com/office/drawing/2014/main" val="30142658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957439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8">
          <a:extLst>
            <a:ext uri="{FF2B5EF4-FFF2-40B4-BE49-F238E27FC236}">
              <a16:creationId xmlns:a16="http://schemas.microsoft.com/office/drawing/2014/main" id="{871DF9B1-5B44-7841-B249-FD472CF842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41">
            <a:extLst>
              <a:ext uri="{FF2B5EF4-FFF2-40B4-BE49-F238E27FC236}">
                <a16:creationId xmlns:a16="http://schemas.microsoft.com/office/drawing/2014/main" id="{AA6F8995-2C7F-90B2-7157-C19115DAC06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70002" y="213028"/>
            <a:ext cx="8003996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MERGE SORT Vs QUICK SORT</a:t>
            </a:r>
            <a:endParaRPr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017704C-1815-76BD-65F0-C9AF7BD773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5914007"/>
              </p:ext>
            </p:extLst>
          </p:nvPr>
        </p:nvGraphicFramePr>
        <p:xfrm>
          <a:off x="650382" y="901522"/>
          <a:ext cx="8003996" cy="4163753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2000999">
                  <a:extLst>
                    <a:ext uri="{9D8B030D-6E8A-4147-A177-3AD203B41FA5}">
                      <a16:colId xmlns:a16="http://schemas.microsoft.com/office/drawing/2014/main" val="1607065121"/>
                    </a:ext>
                  </a:extLst>
                </a:gridCol>
                <a:gridCol w="2000999">
                  <a:extLst>
                    <a:ext uri="{9D8B030D-6E8A-4147-A177-3AD203B41FA5}">
                      <a16:colId xmlns:a16="http://schemas.microsoft.com/office/drawing/2014/main" val="573468120"/>
                    </a:ext>
                  </a:extLst>
                </a:gridCol>
                <a:gridCol w="2000999">
                  <a:extLst>
                    <a:ext uri="{9D8B030D-6E8A-4147-A177-3AD203B41FA5}">
                      <a16:colId xmlns:a16="http://schemas.microsoft.com/office/drawing/2014/main" val="2297966611"/>
                    </a:ext>
                  </a:extLst>
                </a:gridCol>
                <a:gridCol w="2000999">
                  <a:extLst>
                    <a:ext uri="{9D8B030D-6E8A-4147-A177-3AD203B41FA5}">
                      <a16:colId xmlns:a16="http://schemas.microsoft.com/office/drawing/2014/main" val="2814195189"/>
                    </a:ext>
                  </a:extLst>
                </a:gridCol>
              </a:tblGrid>
              <a:tr h="2147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dirty="0"/>
                        <a:t>Parameter</a:t>
                      </a:r>
                      <a:endParaRPr lang="en-IN" sz="1200" dirty="0"/>
                    </a:p>
                  </a:txBody>
                  <a:tcPr marL="60072" marR="60072" marT="30036" marB="3003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Merge Sort</a:t>
                      </a:r>
                      <a:endParaRPr lang="en-IN" sz="1200"/>
                    </a:p>
                  </a:txBody>
                  <a:tcPr marL="60072" marR="60072" marT="30036" marB="3003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Quick Sort</a:t>
                      </a:r>
                      <a:endParaRPr lang="en-IN" sz="1200"/>
                    </a:p>
                  </a:txBody>
                  <a:tcPr marL="60072" marR="60072" marT="30036" marB="3003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More Efficient</a:t>
                      </a:r>
                      <a:endParaRPr lang="en-IN" sz="1200"/>
                    </a:p>
                  </a:txBody>
                  <a:tcPr marL="60072" marR="60072" marT="30036" marB="30036" anchor="ctr"/>
                </a:tc>
                <a:extLst>
                  <a:ext uri="{0D108BD9-81ED-4DB2-BD59-A6C34878D82A}">
                    <a16:rowId xmlns:a16="http://schemas.microsoft.com/office/drawing/2014/main" val="3389183047"/>
                  </a:ext>
                </a:extLst>
              </a:tr>
              <a:tr h="3651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Sorting Strategy</a:t>
                      </a:r>
                      <a:endParaRPr lang="en-IN" sz="1200"/>
                    </a:p>
                  </a:txBody>
                  <a:tcPr marL="60072" marR="60072" marT="30036" marB="3003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Divide and Merge</a:t>
                      </a:r>
                    </a:p>
                  </a:txBody>
                  <a:tcPr marL="60072" marR="60072" marT="30036" marB="3003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Partition around Pivot</a:t>
                      </a:r>
                    </a:p>
                  </a:txBody>
                  <a:tcPr marL="60072" marR="60072" marT="30036" marB="3003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0" dirty="0"/>
                        <a:t>Quick Sort (simpler operations)</a:t>
                      </a:r>
                    </a:p>
                  </a:txBody>
                  <a:tcPr marL="60072" marR="60072" marT="30036" marB="30036" anchor="ctr"/>
                </a:tc>
                <a:extLst>
                  <a:ext uri="{0D108BD9-81ED-4DB2-BD59-A6C34878D82A}">
                    <a16:rowId xmlns:a16="http://schemas.microsoft.com/office/drawing/2014/main" val="386255488"/>
                  </a:ext>
                </a:extLst>
              </a:tr>
              <a:tr h="3651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Execution Speed (Average)</a:t>
                      </a:r>
                      <a:endParaRPr lang="en-IN" sz="1200"/>
                    </a:p>
                  </a:txBody>
                  <a:tcPr marL="60072" marR="60072" marT="30036" marB="3003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Good</a:t>
                      </a:r>
                    </a:p>
                  </a:txBody>
                  <a:tcPr marL="60072" marR="60072" marT="30036" marB="3003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Very Fast</a:t>
                      </a:r>
                    </a:p>
                  </a:txBody>
                  <a:tcPr marL="60072" marR="60072" marT="30036" marB="3003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0" dirty="0"/>
                        <a:t>Quick Sort</a:t>
                      </a:r>
                    </a:p>
                  </a:txBody>
                  <a:tcPr marL="60072" marR="60072" marT="30036" marB="30036" anchor="ctr"/>
                </a:tc>
                <a:extLst>
                  <a:ext uri="{0D108BD9-81ED-4DB2-BD59-A6C34878D82A}">
                    <a16:rowId xmlns:a16="http://schemas.microsoft.com/office/drawing/2014/main" val="1430007900"/>
                  </a:ext>
                </a:extLst>
              </a:tr>
              <a:tr h="3651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Execution Speed (Worst Case)</a:t>
                      </a:r>
                      <a:endParaRPr lang="en-IN" sz="1200"/>
                    </a:p>
                  </a:txBody>
                  <a:tcPr marL="60072" marR="60072" marT="30036" marB="3003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Consistent</a:t>
                      </a:r>
                    </a:p>
                  </a:txBody>
                  <a:tcPr marL="60072" marR="60072" marT="30036" marB="3003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Slower due to poor pivot</a:t>
                      </a:r>
                    </a:p>
                  </a:txBody>
                  <a:tcPr marL="60072" marR="60072" marT="30036" marB="3003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0" dirty="0"/>
                        <a:t>Merge Sort</a:t>
                      </a:r>
                    </a:p>
                  </a:txBody>
                  <a:tcPr marL="60072" marR="60072" marT="30036" marB="30036" anchor="ctr"/>
                </a:tc>
                <a:extLst>
                  <a:ext uri="{0D108BD9-81ED-4DB2-BD59-A6C34878D82A}">
                    <a16:rowId xmlns:a16="http://schemas.microsoft.com/office/drawing/2014/main" val="3394119066"/>
                  </a:ext>
                </a:extLst>
              </a:tr>
              <a:tr h="2147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Memory Usage</a:t>
                      </a:r>
                      <a:endParaRPr lang="en-IN" sz="1200"/>
                    </a:p>
                  </a:txBody>
                  <a:tcPr marL="60072" marR="60072" marT="30036" marB="3003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High (Extra Array)</a:t>
                      </a:r>
                    </a:p>
                  </a:txBody>
                  <a:tcPr marL="60072" marR="60072" marT="30036" marB="3003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Low (In-place)</a:t>
                      </a:r>
                    </a:p>
                  </a:txBody>
                  <a:tcPr marL="60072" marR="60072" marT="30036" marB="3003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0"/>
                        <a:t>Quick Sort</a:t>
                      </a:r>
                    </a:p>
                  </a:txBody>
                  <a:tcPr marL="60072" marR="60072" marT="30036" marB="30036" anchor="ctr"/>
                </a:tc>
                <a:extLst>
                  <a:ext uri="{0D108BD9-81ED-4DB2-BD59-A6C34878D82A}">
                    <a16:rowId xmlns:a16="http://schemas.microsoft.com/office/drawing/2014/main" val="2455766495"/>
                  </a:ext>
                </a:extLst>
              </a:tr>
              <a:tr h="2147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Stability</a:t>
                      </a:r>
                      <a:endParaRPr lang="en-IN" sz="1200"/>
                    </a:p>
                  </a:txBody>
                  <a:tcPr marL="60072" marR="60072" marT="30036" marB="3003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Stable</a:t>
                      </a:r>
                    </a:p>
                  </a:txBody>
                  <a:tcPr marL="60072" marR="60072" marT="30036" marB="3003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Not Stable</a:t>
                      </a:r>
                    </a:p>
                  </a:txBody>
                  <a:tcPr marL="60072" marR="60072" marT="30036" marB="3003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0" dirty="0"/>
                        <a:t>Merge Sort</a:t>
                      </a:r>
                    </a:p>
                  </a:txBody>
                  <a:tcPr marL="60072" marR="60072" marT="30036" marB="30036" anchor="ctr"/>
                </a:tc>
                <a:extLst>
                  <a:ext uri="{0D108BD9-81ED-4DB2-BD59-A6C34878D82A}">
                    <a16:rowId xmlns:a16="http://schemas.microsoft.com/office/drawing/2014/main" val="3171509394"/>
                  </a:ext>
                </a:extLst>
              </a:tr>
              <a:tr h="2147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Cache Performance</a:t>
                      </a:r>
                      <a:endParaRPr lang="en-IN" sz="1200"/>
                    </a:p>
                  </a:txBody>
                  <a:tcPr marL="60072" marR="60072" marT="30036" marB="3003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Moderate</a:t>
                      </a:r>
                    </a:p>
                  </a:txBody>
                  <a:tcPr marL="60072" marR="60072" marT="30036" marB="3003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Excellent</a:t>
                      </a:r>
                    </a:p>
                  </a:txBody>
                  <a:tcPr marL="60072" marR="60072" marT="30036" marB="3003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0"/>
                        <a:t>Quick Sort</a:t>
                      </a:r>
                    </a:p>
                  </a:txBody>
                  <a:tcPr marL="60072" marR="60072" marT="30036" marB="30036" anchor="ctr"/>
                </a:tc>
                <a:extLst>
                  <a:ext uri="{0D108BD9-81ED-4DB2-BD59-A6C34878D82A}">
                    <a16:rowId xmlns:a16="http://schemas.microsoft.com/office/drawing/2014/main" val="1975761393"/>
                  </a:ext>
                </a:extLst>
              </a:tr>
              <a:tr h="3651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Scalability</a:t>
                      </a:r>
                      <a:endParaRPr lang="en-IN" sz="1200"/>
                    </a:p>
                  </a:txBody>
                  <a:tcPr marL="60072" marR="60072" marT="30036" marB="3003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Highly Scalable</a:t>
                      </a:r>
                    </a:p>
                  </a:txBody>
                  <a:tcPr marL="60072" marR="60072" marT="30036" marB="3003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Highly Scalable (Average Case)</a:t>
                      </a:r>
                    </a:p>
                  </a:txBody>
                  <a:tcPr marL="60072" marR="60072" marT="30036" marB="3003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0" dirty="0"/>
                        <a:t>Tie</a:t>
                      </a:r>
                    </a:p>
                  </a:txBody>
                  <a:tcPr marL="60072" marR="60072" marT="30036" marB="30036" anchor="ctr"/>
                </a:tc>
                <a:extLst>
                  <a:ext uri="{0D108BD9-81ED-4DB2-BD59-A6C34878D82A}">
                    <a16:rowId xmlns:a16="http://schemas.microsoft.com/office/drawing/2014/main" val="2252193230"/>
                  </a:ext>
                </a:extLst>
              </a:tr>
              <a:tr h="3651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Reliability</a:t>
                      </a:r>
                      <a:endParaRPr lang="en-IN" sz="1200"/>
                    </a:p>
                  </a:txBody>
                  <a:tcPr marL="60072" marR="60072" marT="30036" marB="3003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Predictable Performance</a:t>
                      </a:r>
                    </a:p>
                  </a:txBody>
                  <a:tcPr marL="60072" marR="60072" marT="30036" marB="3003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Depends on Pivot Selection</a:t>
                      </a:r>
                    </a:p>
                  </a:txBody>
                  <a:tcPr marL="60072" marR="60072" marT="30036" marB="3003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0" dirty="0"/>
                        <a:t>Merge Sort</a:t>
                      </a:r>
                    </a:p>
                  </a:txBody>
                  <a:tcPr marL="60072" marR="60072" marT="30036" marB="30036" anchor="ctr"/>
                </a:tc>
                <a:extLst>
                  <a:ext uri="{0D108BD9-81ED-4DB2-BD59-A6C34878D82A}">
                    <a16:rowId xmlns:a16="http://schemas.microsoft.com/office/drawing/2014/main" val="3123300557"/>
                  </a:ext>
                </a:extLst>
              </a:tr>
              <a:tr h="3651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Suitable for Linked Lists</a:t>
                      </a:r>
                      <a:endParaRPr lang="en-IN" sz="1200"/>
                    </a:p>
                  </a:txBody>
                  <a:tcPr marL="60072" marR="60072" marT="30036" marB="3003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Excellent</a:t>
                      </a:r>
                    </a:p>
                  </a:txBody>
                  <a:tcPr marL="60072" marR="60072" marT="30036" marB="3003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Not Preferred</a:t>
                      </a:r>
                    </a:p>
                  </a:txBody>
                  <a:tcPr marL="60072" marR="60072" marT="30036" marB="3003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0" dirty="0"/>
                        <a:t>Merge Sort</a:t>
                      </a:r>
                    </a:p>
                  </a:txBody>
                  <a:tcPr marL="60072" marR="60072" marT="30036" marB="30036" anchor="ctr"/>
                </a:tc>
                <a:extLst>
                  <a:ext uri="{0D108BD9-81ED-4DB2-BD59-A6C34878D82A}">
                    <a16:rowId xmlns:a16="http://schemas.microsoft.com/office/drawing/2014/main" val="1256524038"/>
                  </a:ext>
                </a:extLst>
              </a:tr>
              <a:tr h="2147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Suitable for Arrays</a:t>
                      </a:r>
                      <a:endParaRPr lang="en-IN" sz="1200"/>
                    </a:p>
                  </a:txBody>
                  <a:tcPr marL="60072" marR="60072" marT="30036" marB="3003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Good</a:t>
                      </a:r>
                    </a:p>
                  </a:txBody>
                  <a:tcPr marL="60072" marR="60072" marT="30036" marB="3003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Excellent</a:t>
                      </a:r>
                    </a:p>
                  </a:txBody>
                  <a:tcPr marL="60072" marR="60072" marT="30036" marB="3003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0" dirty="0"/>
                        <a:t>Quick Sort</a:t>
                      </a:r>
                    </a:p>
                  </a:txBody>
                  <a:tcPr marL="60072" marR="60072" marT="30036" marB="30036" anchor="ctr"/>
                </a:tc>
                <a:extLst>
                  <a:ext uri="{0D108BD9-81ED-4DB2-BD59-A6C34878D82A}">
                    <a16:rowId xmlns:a16="http://schemas.microsoft.com/office/drawing/2014/main" val="889914297"/>
                  </a:ext>
                </a:extLst>
              </a:tr>
              <a:tr h="5154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Real-World Applications</a:t>
                      </a:r>
                      <a:endParaRPr lang="en-IN" sz="1200"/>
                    </a:p>
                  </a:txBody>
                  <a:tcPr marL="60072" marR="60072" marT="30036" marB="3003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External Sorting, Databases</a:t>
                      </a:r>
                    </a:p>
                  </a:txBody>
                  <a:tcPr marL="60072" marR="60072" marT="30036" marB="3003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Programming Libraries, System Software</a:t>
                      </a:r>
                    </a:p>
                  </a:txBody>
                  <a:tcPr marL="60072" marR="60072" marT="30036" marB="3003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0" dirty="0"/>
                        <a:t>Depends on Use Case</a:t>
                      </a:r>
                    </a:p>
                  </a:txBody>
                  <a:tcPr marL="60072" marR="60072" marT="30036" marB="30036" anchor="ctr"/>
                </a:tc>
                <a:extLst>
                  <a:ext uri="{0D108BD9-81ED-4DB2-BD59-A6C34878D82A}">
                    <a16:rowId xmlns:a16="http://schemas.microsoft.com/office/drawing/2014/main" val="16308406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038150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8">
          <a:extLst>
            <a:ext uri="{FF2B5EF4-FFF2-40B4-BE49-F238E27FC236}">
              <a16:creationId xmlns:a16="http://schemas.microsoft.com/office/drawing/2014/main" id="{EA622641-4037-1CA3-820E-5343157420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41">
            <a:extLst>
              <a:ext uri="{FF2B5EF4-FFF2-40B4-BE49-F238E27FC236}">
                <a16:creationId xmlns:a16="http://schemas.microsoft.com/office/drawing/2014/main" id="{81E5C1DE-EF51-24AE-A9C2-A9193037A30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70003" y="360148"/>
            <a:ext cx="8003996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ubtitle 1">
            <a:extLst>
              <a:ext uri="{FF2B5EF4-FFF2-40B4-BE49-F238E27FC236}">
                <a16:creationId xmlns:a16="http://schemas.microsoft.com/office/drawing/2014/main" id="{0DC1331F-16A6-088D-A616-63E39DC980C5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570001" y="908848"/>
            <a:ext cx="8313313" cy="40626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Quick Sort 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real-world applications because of its excellent average-case performance (O(n log n)), low memory usage (O(log n)), and better cache efficiency, making it faster in practice.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Merge Sort 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 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stable sorting, guaranteed O(n log n) performance, or linked-list sorting is required, since its performance remains consistent even in the worst case.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Therefore, for general-purpose array sorting - Quick Sort 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applications that demand predictable and stable performance – Merge Sort.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64024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8">
          <a:extLst>
            <a:ext uri="{FF2B5EF4-FFF2-40B4-BE49-F238E27FC236}">
              <a16:creationId xmlns:a16="http://schemas.microsoft.com/office/drawing/2014/main" id="{1DBB7927-81AA-3BC7-871B-DC32932524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41">
            <a:extLst>
              <a:ext uri="{FF2B5EF4-FFF2-40B4-BE49-F238E27FC236}">
                <a16:creationId xmlns:a16="http://schemas.microsoft.com/office/drawing/2014/main" id="{B56F78C4-4575-1A41-BC3B-B23BA07FBB3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70001" y="438409"/>
            <a:ext cx="8003996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9BB9A43A-67D6-6B56-571B-C9BB2633AF5E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541134" y="834338"/>
            <a:ext cx="7725522" cy="41088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GeeksforGeeks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Merge Sort Algorithm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Available at: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https://www.geeksforgeeks.org/merge-sort/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(Accessed: July 2026).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GeeksforGeeks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Quick Sort Algorithm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Available at: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https://www.geeksforgeeks.org/quick-sort-algorithm/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(Accessed: July 2026).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GeeksforGeeks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Analysis of Algorithms – Asymptotic Notations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Available at: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https://www.geeksforgeeks.org/analysis-of-algorithms-set-3asymptotic-notations/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(Accessed: July 2026).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Cormen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T. H.,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Leiserson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C. E., Rivest, R. L., &amp; Stein, C. 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Algorithms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(4th Edition). MIT Press. </a:t>
            </a:r>
          </a:p>
        </p:txBody>
      </p:sp>
    </p:spTree>
    <p:extLst>
      <p:ext uri="{BB962C8B-B14F-4D97-AF65-F5344CB8AC3E}">
        <p14:creationId xmlns:p14="http://schemas.microsoft.com/office/powerpoint/2010/main" val="21081928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50"/>
          <p:cNvSpPr txBox="1">
            <a:spLocks noGrp="1"/>
          </p:cNvSpPr>
          <p:nvPr>
            <p:ph type="subTitle" idx="1"/>
          </p:nvPr>
        </p:nvSpPr>
        <p:spPr>
          <a:xfrm>
            <a:off x="753575" y="1569150"/>
            <a:ext cx="7636850" cy="200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8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sz="8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ead Funnel by Slidesgo">
  <a:themeElements>
    <a:clrScheme name="Simple Light">
      <a:dk1>
        <a:srgbClr val="15110E"/>
      </a:dk1>
      <a:lt1>
        <a:srgbClr val="FFFAF6"/>
      </a:lt1>
      <a:dk2>
        <a:srgbClr val="C2E5F5"/>
      </a:dk2>
      <a:lt2>
        <a:srgbClr val="5296B8"/>
      </a:lt2>
      <a:accent1>
        <a:srgbClr val="135669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5110E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955</Words>
  <Application>Microsoft Office PowerPoint</Application>
  <PresentationFormat>On-screen Show (16:9)</PresentationFormat>
  <Paragraphs>156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Times New Roman</vt:lpstr>
      <vt:lpstr>Alexandria Medium</vt:lpstr>
      <vt:lpstr>Albert Sans</vt:lpstr>
      <vt:lpstr>Wingdings</vt:lpstr>
      <vt:lpstr>Lead Funnel by Slidesgo</vt:lpstr>
      <vt:lpstr>PowerPoint Presentation</vt:lpstr>
      <vt:lpstr>Asymptotic Analysis of Sorting Algorithms</vt:lpstr>
      <vt:lpstr>INTRODUCTION</vt:lpstr>
      <vt:lpstr>PROBLEM STATEMENT</vt:lpstr>
      <vt:lpstr>MERGE SORT</vt:lpstr>
      <vt:lpstr>QUICK SORT</vt:lpstr>
      <vt:lpstr>SYSTEM ARCHITECTURE</vt:lpstr>
      <vt:lpstr>MERGE SORT - IMPLEMENTATION</vt:lpstr>
      <vt:lpstr>QUICK SORT - IMPLEMENTATION</vt:lpstr>
      <vt:lpstr>COMPLEXITY ANALYSIS</vt:lpstr>
      <vt:lpstr>MERGE SORT Vs QUICK SORT</vt:lpstr>
      <vt:lpstr>CONCLUSION</vt:lpstr>
      <vt:lpstr>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Lenovo</dc:creator>
  <cp:lastModifiedBy>adhiti.sivakumar@gmail.com</cp:lastModifiedBy>
  <cp:revision>1</cp:revision>
  <dcterms:modified xsi:type="dcterms:W3CDTF">2026-07-22T04:12:37Z</dcterms:modified>
</cp:coreProperties>
</file>